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7" r:id="rId2"/>
    <p:sldId id="258" r:id="rId3"/>
    <p:sldId id="266" r:id="rId4"/>
    <p:sldId id="259" r:id="rId5"/>
    <p:sldId id="267" r:id="rId6"/>
    <p:sldId id="260" r:id="rId7"/>
    <p:sldId id="261" r:id="rId8"/>
    <p:sldId id="262" r:id="rId9"/>
    <p:sldId id="263" r:id="rId10"/>
    <p:sldId id="265" r:id="rId11"/>
    <p:sldId id="264" r:id="rId12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8C5072-B530-4E25-ACAE-F89DD755CE4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7C3E6B5-7D20-4D18-870D-EFD8FAD12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5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6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8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1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4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0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9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60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5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4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84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3591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14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73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07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7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257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016298F-43A4-4C8E-8AE8-0D592F84BB00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5EAFCE5-045E-4C97-BF82-8BE0D928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8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43" y="249119"/>
            <a:ext cx="11621069" cy="1088361"/>
          </a:xfrm>
        </p:spPr>
        <p:txBody>
          <a:bodyPr>
            <a:normAutofit/>
          </a:bodyPr>
          <a:lstStyle/>
          <a:p>
            <a:r>
              <a:rPr lang="en-US" b="1" dirty="0" smtClean="0"/>
              <a:t>Weather Trend Forecasting Using Machine Learning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151" y="3382027"/>
            <a:ext cx="11473842" cy="279493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Dulce Alberto Manjate</a:t>
            </a:r>
            <a:br>
              <a:rPr lang="en-US" dirty="0" smtClean="0"/>
            </a:br>
            <a:r>
              <a:rPr lang="en-US" dirty="0" smtClean="0"/>
              <a:t>AI Engineer Internship Technical Assessment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2000" cy="501649"/>
          </a:xfrm>
        </p:spPr>
        <p:txBody>
          <a:bodyPr/>
          <a:lstStyle/>
          <a:p>
            <a:pPr algn="l"/>
            <a:r>
              <a:rPr lang="en-US" dirty="0" smtClean="0"/>
              <a:t>PM Accelerator Mission: </a:t>
            </a:r>
          </a:p>
          <a:p>
            <a:pPr algn="l"/>
            <a:r>
              <a:rPr lang="en-US" dirty="0" smtClean="0"/>
              <a:t>Empowering </a:t>
            </a:r>
            <a:r>
              <a:rPr lang="en-US" dirty="0"/>
              <a:t>professionals through AI, machine learning, and real-world project development.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2943" y="1855722"/>
            <a:ext cx="11574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Global Weather Repository Dataset</a:t>
            </a:r>
          </a:p>
        </p:txBody>
      </p:sp>
    </p:spTree>
    <p:extLst>
      <p:ext uri="{BB962C8B-B14F-4D97-AF65-F5344CB8AC3E}">
        <p14:creationId xmlns:p14="http://schemas.microsoft.com/office/powerpoint/2010/main" val="2977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Analyzed </a:t>
            </a:r>
            <a:r>
              <a:rPr lang="en-US" dirty="0"/>
              <a:t>141,898 global weather </a:t>
            </a:r>
            <a:r>
              <a:rPr lang="en-US" dirty="0" smtClean="0"/>
              <a:t>observations</a:t>
            </a:r>
          </a:p>
          <a:p>
            <a:r>
              <a:rPr lang="en-US" dirty="0" smtClean="0"/>
              <a:t>Best </a:t>
            </a:r>
            <a:r>
              <a:rPr lang="en-US" dirty="0"/>
              <a:t>RMSE: </a:t>
            </a:r>
            <a:r>
              <a:rPr lang="en-US" dirty="0" smtClean="0"/>
              <a:t>4.71</a:t>
            </a:r>
          </a:p>
          <a:p>
            <a:r>
              <a:rPr lang="en-US" dirty="0"/>
              <a:t>Best R²: </a:t>
            </a:r>
            <a:r>
              <a:rPr lang="en-US" dirty="0" smtClean="0"/>
              <a:t>0.765</a:t>
            </a:r>
          </a:p>
          <a:p>
            <a:r>
              <a:rPr lang="en-US" dirty="0" smtClean="0"/>
              <a:t> </a:t>
            </a:r>
            <a:r>
              <a:rPr lang="en-US" dirty="0"/>
              <a:t>Performed climate, environmental, and anomaly </a:t>
            </a:r>
            <a:r>
              <a:rPr lang="en-US" dirty="0" smtClean="0"/>
              <a:t>analysis</a:t>
            </a:r>
          </a:p>
          <a:p>
            <a:r>
              <a:rPr lang="en-US" dirty="0" smtClean="0"/>
              <a:t>Built </a:t>
            </a:r>
            <a:r>
              <a:rPr lang="en-US" dirty="0"/>
              <a:t>and compared 8 machine learning </a:t>
            </a:r>
            <a:r>
              <a:rPr lang="en-US" dirty="0" smtClean="0"/>
              <a:t>models</a:t>
            </a:r>
          </a:p>
          <a:p>
            <a:r>
              <a:rPr lang="en-US" dirty="0" smtClean="0"/>
              <a:t> </a:t>
            </a:r>
            <a:r>
              <a:rPr lang="en-US" dirty="0"/>
              <a:t>Ensemble Model achieved the best </a:t>
            </a:r>
            <a:r>
              <a:rPr lang="en-US" dirty="0" smtClean="0"/>
              <a:t>performance</a:t>
            </a:r>
          </a:p>
          <a:p>
            <a:r>
              <a:rPr lang="en-US" dirty="0" smtClean="0"/>
              <a:t>SHAP </a:t>
            </a:r>
            <a:r>
              <a:rPr lang="en-US" dirty="0"/>
              <a:t>identified UV Index, Pressure, and Humidity as key predictors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0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Project Objective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goal of this project was to analyze global weather data to: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Forecast temperature trends</a:t>
            </a:r>
          </a:p>
          <a:p>
            <a:pPr marL="0" indent="0">
              <a:buNone/>
            </a:pPr>
            <a:r>
              <a:rPr lang="en-US" dirty="0" smtClean="0"/>
              <a:t>• Explore climate and environmental patterns</a:t>
            </a:r>
          </a:p>
          <a:p>
            <a:pPr marL="0" indent="0">
              <a:buNone/>
            </a:pPr>
            <a:r>
              <a:rPr lang="en-US" dirty="0" smtClean="0"/>
              <a:t>• Detect weather anomalies</a:t>
            </a:r>
          </a:p>
          <a:p>
            <a:pPr marL="0" indent="0">
              <a:buNone/>
            </a:pPr>
            <a:r>
              <a:rPr lang="en-US" dirty="0" smtClean="0"/>
              <a:t>• Compare multiple machine learning models</a:t>
            </a:r>
          </a:p>
          <a:p>
            <a:pPr marL="0" indent="0">
              <a:buNone/>
            </a:pPr>
            <a:r>
              <a:rPr lang="en-US" dirty="0" smtClean="0"/>
              <a:t>• Improve forecasting accuracy using ensemble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3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93" y="198392"/>
            <a:ext cx="11797178" cy="972818"/>
          </a:xfrm>
        </p:spPr>
        <p:txBody>
          <a:bodyPr>
            <a:normAutofit/>
          </a:bodyPr>
          <a:lstStyle/>
          <a:p>
            <a:r>
              <a:rPr lang="en-US" dirty="0"/>
              <a:t>Data Cleaning &amp; Exploratory Data Analysis (EDA)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892" y="1237285"/>
            <a:ext cx="5433691" cy="5136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Preprocessing Included</a:t>
            </a:r>
            <a:r>
              <a:rPr lang="en-US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Missing value handling</a:t>
            </a:r>
          </a:p>
          <a:p>
            <a:pPr marL="0" indent="0">
              <a:buNone/>
            </a:pPr>
            <a:r>
              <a:rPr lang="en-US" dirty="0" smtClean="0"/>
              <a:t>• Invalid value replacement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Datetime</a:t>
            </a:r>
            <a:r>
              <a:rPr lang="en-US" dirty="0" smtClean="0"/>
              <a:t> transformation</a:t>
            </a:r>
          </a:p>
          <a:p>
            <a:pPr marL="0" indent="0">
              <a:buNone/>
            </a:pPr>
            <a:r>
              <a:rPr lang="en-US" dirty="0" smtClean="0"/>
              <a:t>• Feature engineering</a:t>
            </a:r>
          </a:p>
          <a:p>
            <a:pPr marL="0" indent="0">
              <a:buNone/>
            </a:pPr>
            <a:r>
              <a:rPr lang="en-US" dirty="0" smtClean="0"/>
              <a:t>• Temperature </a:t>
            </a:r>
            <a:r>
              <a:rPr lang="en-US" dirty="0" smtClean="0"/>
              <a:t>categorization</a:t>
            </a:r>
          </a:p>
          <a:p>
            <a:pPr marL="0" indent="0">
              <a:buNone/>
            </a:pPr>
            <a:r>
              <a:rPr lang="en-US" dirty="0" smtClean="0"/>
              <a:t>EDA </a:t>
            </a:r>
            <a:r>
              <a:rPr lang="en-US" dirty="0" smtClean="0"/>
              <a:t>revealed strong relationships between temperature, humidity, UV index, pressure, and air quality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413" y="1237286"/>
            <a:ext cx="6339384" cy="51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93" y="198392"/>
            <a:ext cx="11797178" cy="972818"/>
          </a:xfrm>
        </p:spPr>
        <p:txBody>
          <a:bodyPr>
            <a:normAutofit/>
          </a:bodyPr>
          <a:lstStyle/>
          <a:p>
            <a:r>
              <a:rPr lang="en-US" dirty="0" smtClean="0"/>
              <a:t>Correlation </a:t>
            </a:r>
            <a:r>
              <a:rPr lang="en-US" dirty="0"/>
              <a:t>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892" y="1237285"/>
            <a:ext cx="5433691" cy="5545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correlation analysis showed strong relationships between temperature, humidity, UV index, pressure, and environmental variables, helping guide feature selection for forecasting models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Temperature </a:t>
            </a:r>
            <a:r>
              <a:rPr lang="en-US" dirty="0"/>
              <a:t>↔ Feels Like Temperature (strong positive</a:t>
            </a:r>
            <a:r>
              <a:rPr lang="en-US" dirty="0" smtClean="0"/>
              <a:t>)</a:t>
            </a:r>
          </a:p>
          <a:p>
            <a:r>
              <a:rPr lang="en-US" dirty="0"/>
              <a:t>Temperature ↔ UV Index (positive</a:t>
            </a:r>
            <a:r>
              <a:rPr lang="en-US" dirty="0" smtClean="0"/>
              <a:t>)</a:t>
            </a:r>
          </a:p>
          <a:p>
            <a:r>
              <a:rPr lang="en-US" dirty="0"/>
              <a:t>Temperature ↔ Humidity (negative)</a:t>
            </a:r>
          </a:p>
          <a:p>
            <a:r>
              <a:rPr lang="en-US" dirty="0" smtClean="0"/>
              <a:t> PM10 </a:t>
            </a:r>
            <a:r>
              <a:rPr lang="en-US" dirty="0"/>
              <a:t>↔ PM2.5 (positive)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413" y="1171210"/>
            <a:ext cx="6339384" cy="561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9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142" y="365126"/>
            <a:ext cx="11549479" cy="1079626"/>
          </a:xfrm>
        </p:spPr>
        <p:txBody>
          <a:bodyPr/>
          <a:lstStyle/>
          <a:p>
            <a:r>
              <a:rPr lang="en-US" b="1" dirty="0" smtClean="0"/>
              <a:t>Forecasting Models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056590"/>
            <a:ext cx="948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Tree-based and ensemble models significantly outperformed traditional linear approaches.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138" y="1444751"/>
            <a:ext cx="6488483" cy="461183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649287"/>
              </p:ext>
            </p:extLst>
          </p:nvPr>
        </p:nvGraphicFramePr>
        <p:xfrm>
          <a:off x="300142" y="1733266"/>
          <a:ext cx="4865535" cy="3990318"/>
        </p:xfrm>
        <a:graphic>
          <a:graphicData uri="http://schemas.openxmlformats.org/drawingml/2006/table">
            <a:tbl>
              <a:tblPr/>
              <a:tblGrid>
                <a:gridCol w="832622">
                  <a:extLst>
                    <a:ext uri="{9D8B030D-6E8A-4147-A177-3AD203B41FA5}">
                      <a16:colId xmlns:a16="http://schemas.microsoft.com/office/drawing/2014/main" val="1826333814"/>
                    </a:ext>
                  </a:extLst>
                </a:gridCol>
                <a:gridCol w="2879678">
                  <a:extLst>
                    <a:ext uri="{9D8B030D-6E8A-4147-A177-3AD203B41FA5}">
                      <a16:colId xmlns:a16="http://schemas.microsoft.com/office/drawing/2014/main" val="745488236"/>
                    </a:ext>
                  </a:extLst>
                </a:gridCol>
                <a:gridCol w="1153235">
                  <a:extLst>
                    <a:ext uri="{9D8B030D-6E8A-4147-A177-3AD203B41FA5}">
                      <a16:colId xmlns:a16="http://schemas.microsoft.com/office/drawing/2014/main" val="3463462156"/>
                    </a:ext>
                  </a:extLst>
                </a:gridCol>
              </a:tblGrid>
              <a:tr h="862062">
                <a:tc>
                  <a:txBody>
                    <a:bodyPr/>
                    <a:lstStyle/>
                    <a:p>
                      <a:r>
                        <a:rPr lang="en-US" dirty="0"/>
                        <a:t>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863858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Ensemble RF + </a:t>
                      </a:r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4.71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662146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298002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Tuned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190557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XGBoost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4637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Bagging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594287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</a:t>
                      </a:r>
                      <a:r>
                        <a:rPr lang="en-US" dirty="0" smtClean="0"/>
                        <a:t>Boosting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5.76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542664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AdaBoost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8.14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993805"/>
                  </a:ext>
                </a:extLst>
              </a:tr>
              <a:tr h="391032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8.44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29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41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708"/>
          </a:xfrm>
        </p:spPr>
        <p:txBody>
          <a:bodyPr/>
          <a:lstStyle/>
          <a:p>
            <a:r>
              <a:rPr lang="en-US" dirty="0" smtClean="0"/>
              <a:t>Best Model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164" y="1586527"/>
            <a:ext cx="10830636" cy="49818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Best </a:t>
            </a:r>
            <a:r>
              <a:rPr lang="en-US" dirty="0" smtClean="0"/>
              <a:t>Model: Ensemble </a:t>
            </a:r>
            <a:r>
              <a:rPr lang="en-US" dirty="0" smtClean="0"/>
              <a:t>(Random Forest + </a:t>
            </a:r>
            <a:r>
              <a:rPr lang="en-US" dirty="0" err="1" smtClean="0"/>
              <a:t>XGBoost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4951" y="3781692"/>
            <a:ext cx="10975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ensemble model achieved the best forecasting accuracy and strongest predictive capability.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69961" y="2323550"/>
            <a:ext cx="2061949" cy="94622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RMSE </a:t>
            </a:r>
          </a:p>
          <a:p>
            <a:pPr algn="ctr"/>
            <a:r>
              <a:rPr lang="en-US" dirty="0" smtClean="0"/>
              <a:t>4.71</a:t>
            </a:r>
          </a:p>
          <a:p>
            <a:pPr algn="ctr"/>
            <a:r>
              <a:rPr lang="en-US" dirty="0" smtClean="0"/>
              <a:t>Lower is Better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830817" y="2323550"/>
            <a:ext cx="2061949" cy="94622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MAE </a:t>
            </a:r>
          </a:p>
          <a:p>
            <a:pPr algn="ctr"/>
            <a:r>
              <a:rPr lang="en-US" dirty="0" smtClean="0"/>
              <a:t>3.19</a:t>
            </a:r>
          </a:p>
          <a:p>
            <a:pPr algn="ctr"/>
            <a:r>
              <a:rPr lang="en-US" dirty="0" smtClean="0"/>
              <a:t>Lower is Better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8584598" y="2323550"/>
            <a:ext cx="2061949" cy="94622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R² </a:t>
            </a:r>
            <a:r>
              <a:rPr lang="en-US" dirty="0" smtClean="0"/>
              <a:t>Score </a:t>
            </a:r>
          </a:p>
          <a:p>
            <a:pPr algn="ctr"/>
            <a:r>
              <a:rPr lang="en-US" dirty="0" smtClean="0"/>
              <a:t>0.765</a:t>
            </a:r>
          </a:p>
          <a:p>
            <a:pPr algn="ctr"/>
            <a:r>
              <a:rPr lang="en-US" dirty="0" smtClean="0"/>
              <a:t>Higher is Better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48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365125"/>
            <a:ext cx="11558016" cy="915035"/>
          </a:xfrm>
        </p:spPr>
        <p:txBody>
          <a:bodyPr/>
          <a:lstStyle/>
          <a:p>
            <a:r>
              <a:rPr lang="en-US" dirty="0"/>
              <a:t>Feature Importance &amp; Explainable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68" y="1690688"/>
            <a:ext cx="4710829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Most Influential Features: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UV Index</a:t>
            </a:r>
          </a:p>
          <a:p>
            <a:pPr marL="0" indent="0">
              <a:buNone/>
            </a:pPr>
            <a:r>
              <a:rPr lang="en-US" dirty="0" smtClean="0"/>
              <a:t>• Pressure</a:t>
            </a:r>
          </a:p>
          <a:p>
            <a:pPr marL="0" indent="0">
              <a:buNone/>
            </a:pPr>
            <a:r>
              <a:rPr lang="en-US" dirty="0" smtClean="0"/>
              <a:t>• Humidity</a:t>
            </a:r>
          </a:p>
          <a:p>
            <a:pPr marL="0" indent="0">
              <a:buNone/>
            </a:pPr>
            <a:r>
              <a:rPr lang="en-US" dirty="0" smtClean="0"/>
              <a:t>• Cloud Coverage</a:t>
            </a:r>
          </a:p>
          <a:p>
            <a:pPr marL="0" indent="0">
              <a:buNone/>
            </a:pPr>
            <a:r>
              <a:rPr lang="en-US" dirty="0" smtClean="0"/>
              <a:t>• Air Quality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SHAP analysis improved model interpretability and explained how environmental variables influence temperature predictions.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458" y="1690688"/>
            <a:ext cx="6713950" cy="454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Climate &amp; </a:t>
            </a:r>
            <a:r>
              <a:rPr lang="en-US" dirty="0" smtClean="0"/>
              <a:t>Spatial</a:t>
            </a:r>
            <a:r>
              <a:rPr lang="en-US" dirty="0" smtClean="0"/>
              <a:t>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158" y="1690688"/>
            <a:ext cx="5274502" cy="47351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Higher temperatures near equatorial </a:t>
            </a:r>
            <a:r>
              <a:rPr lang="en-US" dirty="0" smtClean="0"/>
              <a:t>regions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Lower temperatures at high </a:t>
            </a:r>
            <a:r>
              <a:rPr lang="en-US" dirty="0" smtClean="0"/>
              <a:t>latitudes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Strong geographical climate </a:t>
            </a:r>
            <a:r>
              <a:rPr lang="en-US" dirty="0" smtClean="0"/>
              <a:t>variability</a:t>
            </a:r>
          </a:p>
          <a:p>
            <a:pPr marL="0" indent="0">
              <a:buNone/>
            </a:pPr>
            <a:r>
              <a:rPr lang="en-US" dirty="0"/>
              <a:t>• Temperature distribution follows global latitude patterns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660" y="1821975"/>
            <a:ext cx="6413326" cy="486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43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359" y="365125"/>
            <a:ext cx="10940441" cy="1325563"/>
          </a:xfrm>
        </p:spPr>
        <p:txBody>
          <a:bodyPr/>
          <a:lstStyle/>
          <a:p>
            <a:r>
              <a:rPr lang="en-US" dirty="0" smtClean="0"/>
              <a:t>Business </a:t>
            </a:r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848584" cy="47254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AI-driven weather forecasting</a:t>
            </a:r>
          </a:p>
          <a:p>
            <a:pPr marL="0" indent="0">
              <a:buNone/>
            </a:pPr>
            <a:r>
              <a:rPr lang="en-US" dirty="0" smtClean="0"/>
              <a:t>• Environmental monitoring systems</a:t>
            </a:r>
          </a:p>
          <a:p>
            <a:pPr marL="0" indent="0">
              <a:buNone/>
            </a:pPr>
            <a:r>
              <a:rPr lang="en-US" dirty="0" smtClean="0"/>
              <a:t>• Climate anomaly detection</a:t>
            </a:r>
          </a:p>
          <a:p>
            <a:pPr marL="0" indent="0">
              <a:buNone/>
            </a:pPr>
            <a:r>
              <a:rPr lang="en-US" dirty="0" smtClean="0"/>
              <a:t>• Real-time forecasting dashboards</a:t>
            </a:r>
          </a:p>
          <a:p>
            <a:pPr marL="0" indent="0">
              <a:buNone/>
            </a:pPr>
            <a:r>
              <a:rPr lang="en-US" dirty="0" smtClean="0"/>
              <a:t>• Sustainability and climate </a:t>
            </a:r>
            <a:r>
              <a:rPr lang="en-US" dirty="0" smtClean="0"/>
              <a:t>planning</a:t>
            </a:r>
          </a:p>
          <a:p>
            <a:pPr marL="0" indent="0">
              <a:buNone/>
            </a:pPr>
            <a:r>
              <a:rPr lang="en-US" dirty="0"/>
              <a:t>• Support climate risk management and sustainability initiatives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93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359" y="365125"/>
            <a:ext cx="10940441" cy="13255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Final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848584" cy="4725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demonstrated that machine learning and ensemble forecasting techniques can accurately predict temperature trends while providing valuable climate, environmental, and anomaly detection insights.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Ensemble Model (Random Forest + </a:t>
            </a:r>
            <a:r>
              <a:rPr lang="en-US" dirty="0" err="1"/>
              <a:t>XGBoost</a:t>
            </a:r>
            <a:r>
              <a:rPr lang="en-US" dirty="0"/>
              <a:t>) achieved the highest forecasting accuracy with RMSE = 4.71 and R² = </a:t>
            </a:r>
            <a:r>
              <a:rPr lang="en-US" dirty="0" smtClean="0"/>
              <a:t>0.765, </a:t>
            </a:r>
            <a:r>
              <a:rPr lang="en-US" dirty="0"/>
              <a:t>while SHAP analysis identified UV Index, Pressure, and Humidity as the most influential variables.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findings support the use of AI-driven weather intelligence systems for environmental monitoring, climate analysis, and data-driven decision-making.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7023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114</TotalTime>
  <Words>510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Tw Cen MT</vt:lpstr>
      <vt:lpstr>Droplet</vt:lpstr>
      <vt:lpstr>Weather Trend Forecasting Using Machine Learning</vt:lpstr>
      <vt:lpstr>Executive Summary</vt:lpstr>
      <vt:lpstr>Project Objective</vt:lpstr>
      <vt:lpstr>Data Cleaning &amp; Exploratory Data Analysis (EDA)</vt:lpstr>
      <vt:lpstr>Correlation Analysis</vt:lpstr>
      <vt:lpstr>Forecasting Models</vt:lpstr>
      <vt:lpstr>Best Model Performance</vt:lpstr>
      <vt:lpstr>Feature Importance &amp; Explainable AI</vt:lpstr>
      <vt:lpstr>Climate &amp; Spatial Analysis</vt:lpstr>
      <vt:lpstr>Business Recommendations</vt:lpstr>
      <vt:lpstr> Final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Dulce manjate</dc:creator>
  <cp:lastModifiedBy>Dulce manjate</cp:lastModifiedBy>
  <cp:revision>24</cp:revision>
  <cp:lastPrinted>2026-05-29T09:27:16Z</cp:lastPrinted>
  <dcterms:created xsi:type="dcterms:W3CDTF">2026-05-28T11:01:31Z</dcterms:created>
  <dcterms:modified xsi:type="dcterms:W3CDTF">2026-05-29T09:30:31Z</dcterms:modified>
</cp:coreProperties>
</file>